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6858000" cx="9144000"/>
  <p:notesSz cx="6858000" cy="9144000"/>
  <p:embeddedFontLst>
    <p:embeddedFont>
      <p:font typeface="Robot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B471969-12F2-4622-AD3D-09DA3C08E59E}">
  <a:tblStyle styleId="{DB471969-12F2-4622-AD3D-09DA3C08E59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bold.fntdata"/><Relationship Id="rId30" Type="http://schemas.openxmlformats.org/officeDocument/2006/relationships/font" Target="fonts/Roboto-regular.fntdata"/><Relationship Id="rId11" Type="http://schemas.openxmlformats.org/officeDocument/2006/relationships/slide" Target="slides/slide5.xml"/><Relationship Id="rId33" Type="http://schemas.openxmlformats.org/officeDocument/2006/relationships/font" Target="fonts/Roboto-boldItalic.fntdata"/><Relationship Id="rId10" Type="http://schemas.openxmlformats.org/officeDocument/2006/relationships/slide" Target="slides/slide4.xml"/><Relationship Id="rId32" Type="http://schemas.openxmlformats.org/officeDocument/2006/relationships/font" Target="fonts/Robot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1168400" y="708025"/>
            <a:ext cx="4535488" cy="34020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915294" y="4343703"/>
            <a:ext cx="5027414" cy="409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4825" lIns="89675" spcFirstLastPara="1" rIns="89675" wrap="square" tIns="44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309f471a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g3b309f471a6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309f471a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g3b309f471a6_0_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309f471a6_3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g3b309f471a6_3_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309f471a6_3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g3b309f471a6_3_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309f471a6_3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g3b309f471a6_3_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309f471a6_3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g3b309f471a6_3_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309f471a6_3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g3b309f471a6_3_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b309f471a6_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g3b309f471a6_3_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b309f471a6_3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g3b309f471a6_3_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" name="Google Shape;230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/>
        </p:nvSpPr>
        <p:spPr>
          <a:xfrm>
            <a:off x="1371600" y="6687979"/>
            <a:ext cx="598487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SEC-  DEPARTMENT OF AIDS –  </a:t>
            </a: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1 – </a:t>
            </a: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PROJECTWORK1</a:t>
            </a: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slide# 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457200" y="274638"/>
            <a:ext cx="8229600" cy="584200"/>
          </a:xfrm>
          <a:prstGeom prst="rect">
            <a:avLst/>
          </a:prstGeom>
          <a:gradFill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457200" y="1027113"/>
            <a:ext cx="8229600" cy="5402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ELCOT\Desktop\Saveetha Logo.png" id="19" name="Google Shape;19;p2"/>
          <p:cNvPicPr preferRelativeResize="0"/>
          <p:nvPr/>
        </p:nvPicPr>
        <p:blipFill rotWithShape="1">
          <a:blip r:embed="rId2">
            <a:alphaModFix/>
          </a:blip>
          <a:srcRect b="28149" l="0" r="26620" t="0"/>
          <a:stretch/>
        </p:blipFill>
        <p:spPr>
          <a:xfrm>
            <a:off x="6588225" y="2899"/>
            <a:ext cx="2570075" cy="2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9" name="Google Shape;49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6" name="Google Shape;66;p1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7" name="Google Shape;67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4" name="Google Shape;7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/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Projectwork1</a:t>
            </a: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(19AI70</a:t>
            </a: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– Review </a:t>
            </a: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228600" y="990600"/>
            <a:ext cx="86106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3162"/>
              <a:buFont typeface="Arial"/>
              <a:buNone/>
            </a:pPr>
            <a:r>
              <a:rPr b="1" lang="en-US" sz="2474">
                <a:solidFill>
                  <a:srgbClr val="1D212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Scholara: A System for the Asynchronous Management of Academic Artifacts Featuring Federated Authentication with a RESTful Endpoint Architecture</a:t>
            </a:r>
            <a:br>
              <a:rPr b="0" i="0" lang="en-US" sz="3200" u="none" cap="none" strike="noStrike">
                <a:solidFill>
                  <a:srgbClr val="538CD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Submitted by: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00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JEGADEESH S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212222230055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-202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Batch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TEAM NO:253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 the guidance of: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JABA JASPHIN E 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Assistant Professor (SG)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,Department of AIDS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4619" lvl="1" marL="742950" marR="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-304800" y="5486400"/>
            <a:ext cx="9829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i="0" lang="en-US" sz="3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ARTIFICIAL INTELLIGENCE AND DATA SCIENCE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i="0" lang="en-US" sz="5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SAVEETHA ENGINEERING COLLEGE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(Autonomous Institution – UGC, Govt. of India)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(Affiliated to Anna University, Approved by AICTE - Accredited by NBA &amp; NAAC – ‘A’ Grade - ISO 9001:2015 Certified)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Saveetha Nagar, Thandalam, Chennai-602 105, TamilNadu, INDIA.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1294" lvl="1" marL="742950" marR="0" rtl="0" algn="l">
              <a:lnSpc>
                <a:spcPct val="100000"/>
              </a:lnSpc>
              <a:spcBef>
                <a:spcPts val="26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1000" y="5105400"/>
            <a:ext cx="685800" cy="66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idx="4294967295"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103" name="Google Shape;103;p15"/>
          <p:cNvSpPr txBox="1"/>
          <p:nvPr>
            <p:ph idx="4294967295" type="body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-336427" lvl="0" marL="457200" rtl="0" algn="l">
              <a:spcBef>
                <a:spcPts val="64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b="1" lang="en-US" sz="4245"/>
              <a:t>Introduction</a:t>
            </a:r>
            <a:br>
              <a:rPr b="1" lang="en-US" sz="4245"/>
            </a:br>
            <a:endParaRPr b="1" sz="4245"/>
          </a:p>
          <a:p>
            <a:pPr indent="-336427" lvl="0" marL="457200" rtl="0" algn="l">
              <a:spcBef>
                <a:spcPts val="64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b="1" lang="en-US" sz="4245"/>
              <a:t>Statement of the Problem</a:t>
            </a:r>
            <a:br>
              <a:rPr b="1" lang="en-US" sz="4245"/>
            </a:br>
            <a:endParaRPr b="1" sz="4245"/>
          </a:p>
          <a:p>
            <a:pPr indent="-336427" lvl="0" marL="457200" rtl="0" algn="l">
              <a:spcBef>
                <a:spcPts val="64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b="1" lang="en-US" sz="4245"/>
              <a:t>Purpose of the Project</a:t>
            </a:r>
            <a:br>
              <a:rPr b="1" lang="en-US" sz="4245"/>
            </a:br>
            <a:endParaRPr b="1" sz="4245"/>
          </a:p>
          <a:p>
            <a:pPr indent="-336427" lvl="0" marL="457200" rtl="0" algn="l">
              <a:spcBef>
                <a:spcPts val="64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b="1" lang="en-US" sz="4245"/>
              <a:t>Proposed Methodology</a:t>
            </a:r>
            <a:endParaRPr b="1" sz="4245"/>
          </a:p>
          <a:p>
            <a:pPr indent="0" lvl="0" marL="4572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b="1" sz="4245"/>
          </a:p>
          <a:p>
            <a:pPr indent="-336427" lvl="0" marL="457200" rtl="0" algn="l">
              <a:spcBef>
                <a:spcPts val="64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b="1" lang="en-US" sz="4245"/>
              <a:t>Test Case</a:t>
            </a:r>
            <a:br>
              <a:rPr b="1" lang="en-US" sz="4245"/>
            </a:br>
            <a:endParaRPr b="1" sz="4245"/>
          </a:p>
          <a:p>
            <a:pPr indent="-336427" lvl="0" marL="457200" rtl="0" algn="l">
              <a:spcBef>
                <a:spcPts val="64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b="1" lang="en-US" sz="4245"/>
              <a:t>Literature Review</a:t>
            </a:r>
            <a:br>
              <a:rPr b="1" lang="en-US" sz="4245"/>
            </a:br>
            <a:endParaRPr b="1" sz="4245"/>
          </a:p>
          <a:p>
            <a:pPr indent="-336427" lvl="0" marL="457200" rtl="0" algn="l">
              <a:spcBef>
                <a:spcPts val="64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b="1" lang="en-US" sz="4245"/>
              <a:t>Output and Results</a:t>
            </a:r>
            <a:br>
              <a:rPr b="1" lang="en-US" sz="4245"/>
            </a:br>
            <a:br>
              <a:rPr b="1" lang="en-US" sz="4245"/>
            </a:br>
            <a:endParaRPr b="1" sz="4245"/>
          </a:p>
          <a:p>
            <a:pPr indent="-336427" lvl="0" marL="457200" rtl="0" algn="l">
              <a:spcBef>
                <a:spcPts val="64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b="1" lang="en-US" sz="4245"/>
              <a:t>Conclusion</a:t>
            </a:r>
            <a:br>
              <a:rPr b="1" lang="en-US" sz="4245"/>
            </a:br>
            <a:endParaRPr b="1" sz="4245"/>
          </a:p>
          <a:p>
            <a:pPr indent="-336427" lvl="0" marL="457200" rtl="0" algn="l">
              <a:spcBef>
                <a:spcPts val="64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b="1" lang="en-US" sz="4245"/>
              <a:t>References</a:t>
            </a:r>
            <a:endParaRPr b="1" sz="4245"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idx="4294967295"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109" name="Google Shape;109;p16"/>
          <p:cNvSpPr txBox="1"/>
          <p:nvPr>
            <p:ph idx="4294967295" type="body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1650" lvl="0" marL="457200" rtl="0" algn="l">
              <a:spcBef>
                <a:spcPts val="518"/>
              </a:spcBef>
              <a:spcAft>
                <a:spcPts val="0"/>
              </a:spcAft>
              <a:buSzPts val="4300"/>
              <a:buChar char="•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Academic collaboration and visibility between students and faculty remain challenging due to fragmented systems.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501650" lvl="0" marL="457200" rtl="0" algn="l">
              <a:spcBef>
                <a:spcPts val="518"/>
              </a:spcBef>
              <a:spcAft>
                <a:spcPts val="0"/>
              </a:spcAft>
              <a:buSzPts val="4300"/>
              <a:buChar char="•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Scholara</a:t>
            </a:r>
            <a:r>
              <a:rPr lang="en-US" sz="2200">
                <a:latin typeface="Arial"/>
                <a:ea typeface="Arial"/>
                <a:cs typeface="Arial"/>
                <a:sym typeface="Arial"/>
              </a:rPr>
              <a:t> is a </a:t>
            </a: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web-based academic networking platform</a:t>
            </a:r>
            <a:r>
              <a:rPr lang="en-US" sz="2200">
                <a:latin typeface="Arial"/>
                <a:ea typeface="Arial"/>
                <a:cs typeface="Arial"/>
                <a:sym typeface="Arial"/>
              </a:rPr>
              <a:t> designed to bridge this gap, enabling seamless interaction, project management, publication tracking, and mentorship through unified dashboards for students and faculty.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412750" lvl="0" marL="34290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SzPts val="4300"/>
              <a:buChar char="•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The system integrates </a:t>
            </a: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AI-driven analytics, leaderboard ranking, and appointment scheduling</a:t>
            </a:r>
            <a:r>
              <a:rPr lang="en-US" sz="2200">
                <a:latin typeface="Arial"/>
                <a:ea typeface="Arial"/>
                <a:cs typeface="Arial"/>
                <a:sym typeface="Arial"/>
              </a:rPr>
              <a:t>, promoting academic visibility and data-driven growth.</a:t>
            </a:r>
            <a:endParaRPr sz="3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idx="4294967295"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Statement of the Problem</a:t>
            </a:r>
            <a:endParaRPr/>
          </a:p>
        </p:txBody>
      </p:sp>
      <p:sp>
        <p:nvSpPr>
          <p:cNvPr id="115" name="Google Shape;115;p17"/>
          <p:cNvSpPr txBox="1"/>
          <p:nvPr>
            <p:ph idx="4294967295" type="body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Educational institutions often face: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Fragmented tools for academic communication and project management.</a:t>
            </a:r>
            <a:br>
              <a:rPr lang="en-US" sz="2000">
                <a:latin typeface="Arial"/>
                <a:ea typeface="Arial"/>
                <a:cs typeface="Arial"/>
                <a:sym typeface="Arial"/>
              </a:rPr>
            </a:b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Lack of unified systems for showcasing achievements and coordinating collaborations.</a:t>
            </a:r>
            <a:br>
              <a:rPr lang="en-US" sz="2000">
                <a:latin typeface="Arial"/>
                <a:ea typeface="Arial"/>
                <a:cs typeface="Arial"/>
                <a:sym typeface="Arial"/>
              </a:rPr>
            </a:b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Difficulty in tracking academic performance and engagement.</a:t>
            </a:r>
            <a:br>
              <a:rPr lang="en-US" sz="2000"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Hence, there is a need for an integrated, role-based, AI-supported platform to improve connectivity, recognition, and efficiency in academic networks.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idx="4294967295"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Purpose of the project</a:t>
            </a:r>
            <a:endParaRPr/>
          </a:p>
        </p:txBody>
      </p:sp>
      <p:sp>
        <p:nvSpPr>
          <p:cNvPr id="121" name="Google Shape;121;p18"/>
          <p:cNvSpPr txBox="1"/>
          <p:nvPr>
            <p:ph idx="4294967295" type="body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800"/>
              <a:t>The purpose of Scholara is to:</a:t>
            </a:r>
            <a:endParaRPr sz="2800"/>
          </a:p>
          <a:p>
            <a:pPr indent="-28797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39285"/>
              <a:buAutoNum type="arabicPeriod"/>
            </a:pPr>
            <a:r>
              <a:rPr lang="en-US" sz="2800"/>
              <a:t>Centralize academic activities like projects, publications, and achievements.</a:t>
            </a:r>
            <a:br>
              <a:rPr lang="en-US" sz="2800"/>
            </a:br>
            <a:endParaRPr sz="2800"/>
          </a:p>
          <a:p>
            <a:pPr indent="-28797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9285"/>
              <a:buAutoNum type="arabicPeriod"/>
            </a:pPr>
            <a:r>
              <a:rPr lang="en-US" sz="2800"/>
              <a:t>Simplify student–faculty collaboration and mentorship.</a:t>
            </a:r>
            <a:br>
              <a:rPr lang="en-US" sz="2800"/>
            </a:br>
            <a:endParaRPr sz="2800"/>
          </a:p>
          <a:p>
            <a:pPr indent="-28797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9285"/>
              <a:buAutoNum type="arabicPeriod"/>
            </a:pPr>
            <a:r>
              <a:rPr lang="en-US" sz="2800"/>
              <a:t>Enhance academic visibility through dashboards and leaderboards.</a:t>
            </a:r>
            <a:br>
              <a:rPr lang="en-US" sz="2800"/>
            </a:br>
            <a:endParaRPr sz="2800"/>
          </a:p>
          <a:p>
            <a:pPr indent="-28797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9285"/>
              <a:buAutoNum type="arabicPeriod"/>
            </a:pPr>
            <a:r>
              <a:rPr lang="en-US" sz="2800"/>
              <a:t>Use AI analytics for performance tracking and automated resume generation.</a:t>
            </a:r>
            <a:br>
              <a:rPr lang="en-US" sz="2800"/>
            </a:br>
            <a:endParaRPr sz="2800"/>
          </a:p>
          <a:p>
            <a:pPr indent="-28797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9285"/>
              <a:buAutoNum type="arabicPeriod"/>
            </a:pPr>
            <a:r>
              <a:rPr lang="en-US" sz="2800"/>
              <a:t>Create a scalable and user-friendly digital academic ecosystem.</a:t>
            </a:r>
            <a:br>
              <a:rPr lang="en-US" sz="2800"/>
            </a:br>
            <a:endParaRPr sz="2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idx="4294967295"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Proposed Methodology</a:t>
            </a:r>
            <a:endParaRPr/>
          </a:p>
        </p:txBody>
      </p:sp>
      <p:sp>
        <p:nvSpPr>
          <p:cNvPr id="127" name="Google Shape;127;p19"/>
          <p:cNvSpPr txBox="1"/>
          <p:nvPr>
            <p:ph idx="4294967295" type="body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Methodology Steps: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Frontend: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Role-specific dashboards using React/Next.js.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Backend: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Node.js with Express RESTful API.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Database: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MongoDB for user and activity data.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Authentication: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Firebase-based secure login and token validation.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AI Analytics: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Heuristic scoring (Phase 1) → ML-driven analytics (Phase 2).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Deployment: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Containerized APIs with scalability and load balancing.</a:t>
            </a:r>
            <a:endParaRPr sz="3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idx="4294967295"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 sz="4245"/>
              <a:t>Test Case</a:t>
            </a:r>
            <a:endParaRPr/>
          </a:p>
        </p:txBody>
      </p:sp>
      <p:pic>
        <p:nvPicPr>
          <p:cNvPr id="133" name="Google Shape;133;p20" title="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50" y="1839350"/>
            <a:ext cx="8058150" cy="290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0"/>
          <p:cNvSpPr txBox="1"/>
          <p:nvPr/>
        </p:nvSpPr>
        <p:spPr>
          <a:xfrm>
            <a:off x="1054950" y="5237025"/>
            <a:ext cx="7034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Logical Data Model Diagram for Scholara</a:t>
            </a:r>
            <a:endParaRPr b="1" sz="37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idx="4294967295" type="title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 sz="4245"/>
              <a:t>Test Case</a:t>
            </a:r>
            <a:endParaRPr/>
          </a:p>
        </p:txBody>
      </p:sp>
      <p:pic>
        <p:nvPicPr>
          <p:cNvPr id="140" name="Google Shape;14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8550" y="1017481"/>
            <a:ext cx="5461400" cy="482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1"/>
          <p:cNvSpPr txBox="1"/>
          <p:nvPr/>
        </p:nvSpPr>
        <p:spPr>
          <a:xfrm>
            <a:off x="1303825" y="5943450"/>
            <a:ext cx="6763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Appointment Lifecycle State Diagram in Scholara</a:t>
            </a:r>
            <a:endParaRPr b="1" sz="2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idx="4294967295" type="title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 sz="4245"/>
              <a:t>Test Case</a:t>
            </a:r>
            <a:endParaRPr/>
          </a:p>
        </p:txBody>
      </p:sp>
      <p:pic>
        <p:nvPicPr>
          <p:cNvPr id="147" name="Google Shape;14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5075" y="1906432"/>
            <a:ext cx="5951200" cy="3045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2"/>
          <p:cNvSpPr txBox="1"/>
          <p:nvPr/>
        </p:nvSpPr>
        <p:spPr>
          <a:xfrm>
            <a:off x="1382450" y="5556875"/>
            <a:ext cx="6083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Technology Stack Overview for Scholara</a:t>
            </a:r>
            <a:endParaRPr b="1" sz="2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/>
          <p:nvPr>
            <p:ph idx="4294967295" type="title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 sz="4245"/>
              <a:t>UML DIAGRAMS</a:t>
            </a:r>
            <a:endParaRPr/>
          </a:p>
        </p:txBody>
      </p:sp>
      <p:pic>
        <p:nvPicPr>
          <p:cNvPr id="154" name="Google Shape;15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6250" y="1066938"/>
            <a:ext cx="6696075" cy="501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>
            <p:ph idx="4294967295" type="title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 sz="4245"/>
              <a:t>UML DIAGRAMS</a:t>
            </a:r>
            <a:endParaRPr/>
          </a:p>
        </p:txBody>
      </p:sp>
      <p:pic>
        <p:nvPicPr>
          <p:cNvPr id="160" name="Google Shape;16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625" y="1094063"/>
            <a:ext cx="8839200" cy="500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>
            <p:ph idx="4294967295" type="title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 sz="4245"/>
              <a:t>UML DIAGRAMS</a:t>
            </a:r>
            <a:endParaRPr/>
          </a:p>
        </p:txBody>
      </p:sp>
      <p:pic>
        <p:nvPicPr>
          <p:cNvPr id="166" name="Google Shape;16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771688"/>
            <a:ext cx="8096250" cy="409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/>
          <p:nvPr>
            <p:ph idx="4294967295" type="title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 sz="4245"/>
              <a:t>HARDWARE SELECTION</a:t>
            </a:r>
            <a:endParaRPr/>
          </a:p>
        </p:txBody>
      </p:sp>
      <p:graphicFrame>
        <p:nvGraphicFramePr>
          <p:cNvPr id="172" name="Google Shape;172;p26"/>
          <p:cNvGraphicFramePr/>
          <p:nvPr/>
        </p:nvGraphicFramePr>
        <p:xfrm>
          <a:off x="2063425" y="190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{DB471969-12F2-4622-AD3D-09DA3C08E59E}</a:tableStyleId>
              </a:tblPr>
              <a:tblGrid>
                <a:gridCol w="1621350"/>
                <a:gridCol w="40527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Component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Specification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Processor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Dual-core processor or higher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RAM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Minimum 4 GB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Storage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20 GB free disk space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Display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1366 × 768 resolution or higher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Network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Stable broadband internet connection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Devices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Desktop, Laptop, Tablet, or Smartphone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>
            <p:ph idx="4294967295" type="title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 sz="4245"/>
              <a:t>Software Selection</a:t>
            </a:r>
            <a:endParaRPr/>
          </a:p>
        </p:txBody>
      </p:sp>
      <p:graphicFrame>
        <p:nvGraphicFramePr>
          <p:cNvPr id="178" name="Google Shape;178;p27"/>
          <p:cNvGraphicFramePr/>
          <p:nvPr/>
        </p:nvGraphicFramePr>
        <p:xfrm>
          <a:off x="1480650" y="1561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{DB471969-12F2-4622-AD3D-09DA3C08E59E}</a:tableStyleId>
              </a:tblPr>
              <a:tblGrid>
                <a:gridCol w="1114175"/>
                <a:gridCol w="42272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Layer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Software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Server OS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Linux (Ubuntu Server)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Client OS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Windows, macOS, Linux, Android, iOS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79" name="Google Shape;179;p27"/>
          <p:cNvGraphicFramePr/>
          <p:nvPr/>
        </p:nvGraphicFramePr>
        <p:xfrm>
          <a:off x="1480650" y="3229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{DB471969-12F2-4622-AD3D-09DA3C08E59E}</a:tableStyleId>
              </a:tblPr>
              <a:tblGrid>
                <a:gridCol w="2195725"/>
                <a:gridCol w="37311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Technology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Purpose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HTML5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Page structure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CSS3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Responsive design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JavaScript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Dynamic interactions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React.js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Component-based UI development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Bootstrap / Tailwind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UI consistency and responsiveness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"/>
          <p:cNvSpPr txBox="1"/>
          <p:nvPr>
            <p:ph idx="4294967295" type="title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Literature Review-Reference Paper 1</a:t>
            </a:r>
            <a:endParaRPr/>
          </a:p>
        </p:txBody>
      </p:sp>
      <p:sp>
        <p:nvSpPr>
          <p:cNvPr id="185" name="Google Shape;185;p28"/>
          <p:cNvSpPr txBox="1"/>
          <p:nvPr/>
        </p:nvSpPr>
        <p:spPr>
          <a:xfrm>
            <a:off x="228600" y="1060325"/>
            <a:ext cx="8686800" cy="57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Paper Title:</a:t>
            </a:r>
            <a:br>
              <a:rPr b="1" lang="en-US" sz="1700">
                <a:solidFill>
                  <a:schemeClr val="dk1"/>
                </a:solidFill>
              </a:rPr>
            </a:br>
            <a:r>
              <a:rPr lang="en-US" sz="1700">
                <a:solidFill>
                  <a:schemeClr val="dk1"/>
                </a:solidFill>
              </a:rPr>
              <a:t> </a:t>
            </a:r>
            <a:r>
              <a:rPr i="1" lang="en-US" sz="1700">
                <a:solidFill>
                  <a:schemeClr val="dk1"/>
                </a:solidFill>
              </a:rPr>
              <a:t>ResearchGate and Academia.edu: Academic Social Networks</a:t>
            </a:r>
            <a:endParaRPr i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Problem Statement:</a:t>
            </a:r>
            <a:br>
              <a:rPr b="1" lang="en-US" sz="1700">
                <a:solidFill>
                  <a:schemeClr val="dk1"/>
                </a:solidFill>
              </a:rPr>
            </a:br>
            <a:r>
              <a:rPr lang="en-US" sz="1700">
                <a:solidFill>
                  <a:schemeClr val="dk1"/>
                </a:solidFill>
              </a:rPr>
              <a:t> Existing academic networking platforms enable visibility but lack integration with institutional workflows and role-specific collaboration features.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Problem Approach:</a:t>
            </a:r>
            <a:br>
              <a:rPr b="1" lang="en-US" sz="1700">
                <a:solidFill>
                  <a:schemeClr val="dk1"/>
                </a:solidFill>
              </a:rPr>
            </a:br>
            <a:r>
              <a:rPr lang="en-US" sz="1700">
                <a:solidFill>
                  <a:schemeClr val="dk1"/>
                </a:solidFill>
              </a:rPr>
              <a:t> The study evaluates how researchers use academic networking platforms for visibility, identifying missing links between faculty–student collaboration and institutional engagement.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Advantages:</a:t>
            </a:r>
            <a:br>
              <a:rPr b="1" lang="en-US" sz="1700">
                <a:solidFill>
                  <a:schemeClr val="dk1"/>
                </a:solidFill>
              </a:rPr>
            </a:br>
            <a:r>
              <a:rPr lang="en-US" sz="1700">
                <a:solidFill>
                  <a:schemeClr val="dk1"/>
                </a:solidFill>
              </a:rPr>
              <a:t> Promotes networking and knowledge sharing among academics.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Drawbacks:</a:t>
            </a:r>
            <a:br>
              <a:rPr b="1" lang="en-US" sz="1700">
                <a:solidFill>
                  <a:schemeClr val="dk1"/>
                </a:solidFill>
              </a:rPr>
            </a:br>
            <a:r>
              <a:rPr lang="en-US" sz="1700">
                <a:solidFill>
                  <a:schemeClr val="dk1"/>
                </a:solidFill>
              </a:rPr>
              <a:t> Limited support for institution-based collaboration, no project or achievement tracking.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Future Scope:</a:t>
            </a:r>
            <a:br>
              <a:rPr b="1" lang="en-US" sz="1700">
                <a:solidFill>
                  <a:schemeClr val="dk1"/>
                </a:solidFill>
              </a:rPr>
            </a:br>
            <a:r>
              <a:rPr lang="en-US" sz="1700">
                <a:solidFill>
                  <a:schemeClr val="dk1"/>
                </a:solidFill>
              </a:rPr>
              <a:t> Development of role-based academic platforms integrating collaboration, mentoring, and analytics.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/>
          <p:cNvSpPr txBox="1"/>
          <p:nvPr>
            <p:ph idx="4294967295" type="title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Literature Review-Reference Paper 2</a:t>
            </a:r>
            <a:endParaRPr/>
          </a:p>
        </p:txBody>
      </p:sp>
      <p:sp>
        <p:nvSpPr>
          <p:cNvPr id="191" name="Google Shape;191;p29"/>
          <p:cNvSpPr txBox="1"/>
          <p:nvPr/>
        </p:nvSpPr>
        <p:spPr>
          <a:xfrm>
            <a:off x="276750" y="914550"/>
            <a:ext cx="8590500" cy="54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Paper Title:</a:t>
            </a:r>
            <a:br>
              <a:rPr b="1" lang="en-US" sz="1600">
                <a:solidFill>
                  <a:schemeClr val="dk1"/>
                </a:solidFill>
              </a:rPr>
            </a:br>
            <a:r>
              <a:rPr lang="en-US" sz="1600">
                <a:solidFill>
                  <a:schemeClr val="dk1"/>
                </a:solidFill>
              </a:rPr>
              <a:t> </a:t>
            </a:r>
            <a:r>
              <a:rPr i="1" lang="en-US" sz="1600">
                <a:solidFill>
                  <a:schemeClr val="dk1"/>
                </a:solidFill>
              </a:rPr>
              <a:t>Systematic Comparative Review of Three LMS Platforms: Moodle, Blackboard, and Canvas</a:t>
            </a:r>
            <a:endParaRPr i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Problem Statement:</a:t>
            </a:r>
            <a:br>
              <a:rPr b="1" lang="en-US" sz="1600">
                <a:solidFill>
                  <a:schemeClr val="dk1"/>
                </a:solidFill>
              </a:rPr>
            </a:br>
            <a:r>
              <a:rPr lang="en-US" sz="1600">
                <a:solidFill>
                  <a:schemeClr val="dk1"/>
                </a:solidFill>
              </a:rPr>
              <a:t> Learning management systems assist course management but do not facilitate comprehensive academic networking or achievement visibility.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Problem Approach:</a:t>
            </a:r>
            <a:br>
              <a:rPr b="1" lang="en-US" sz="1600">
                <a:solidFill>
                  <a:schemeClr val="dk1"/>
                </a:solidFill>
              </a:rPr>
            </a:br>
            <a:r>
              <a:rPr lang="en-US" sz="1600">
                <a:solidFill>
                  <a:schemeClr val="dk1"/>
                </a:solidFill>
              </a:rPr>
              <a:t> The paper compares major LMS tools in terms of features, usability, and institutional adaptability.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Advantages:</a:t>
            </a:r>
            <a:br>
              <a:rPr b="1" lang="en-US" sz="1600">
                <a:solidFill>
                  <a:schemeClr val="dk1"/>
                </a:solidFill>
              </a:rPr>
            </a:br>
            <a:r>
              <a:rPr lang="en-US" sz="1600">
                <a:solidFill>
                  <a:schemeClr val="dk1"/>
                </a:solidFill>
              </a:rPr>
              <a:t> Strong in course tracking, assessment management, and communication.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Drawbacks:</a:t>
            </a:r>
            <a:br>
              <a:rPr b="1" lang="en-US" sz="1600">
                <a:solidFill>
                  <a:schemeClr val="dk1"/>
                </a:solidFill>
              </a:rPr>
            </a:br>
            <a:r>
              <a:rPr lang="en-US" sz="1600">
                <a:solidFill>
                  <a:schemeClr val="dk1"/>
                </a:solidFill>
              </a:rPr>
              <a:t> Lack features for publication showcase, cross-department collaboration, and analytics-driven engagement.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Future Scope:</a:t>
            </a:r>
            <a:br>
              <a:rPr b="1" lang="en-US" sz="1600">
                <a:solidFill>
                  <a:schemeClr val="dk1"/>
                </a:solidFill>
              </a:rPr>
            </a:br>
            <a:r>
              <a:rPr lang="en-US" sz="1600">
                <a:solidFill>
                  <a:schemeClr val="dk1"/>
                </a:solidFill>
              </a:rPr>
              <a:t> Integration of LMS features with academic collaboration platforms to unify project, publication, and student–faculty interaction data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/>
          <p:cNvSpPr txBox="1"/>
          <p:nvPr>
            <p:ph idx="4294967295" type="title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Literature Review-Reference Paper 3</a:t>
            </a:r>
            <a:endParaRPr/>
          </a:p>
        </p:txBody>
      </p:sp>
      <p:sp>
        <p:nvSpPr>
          <p:cNvPr id="197" name="Google Shape;197;p30"/>
          <p:cNvSpPr txBox="1"/>
          <p:nvPr/>
        </p:nvSpPr>
        <p:spPr>
          <a:xfrm>
            <a:off x="228600" y="1060325"/>
            <a:ext cx="8686800" cy="51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Paper Title:</a:t>
            </a:r>
            <a:br>
              <a:rPr b="1" lang="en-US" sz="1600">
                <a:solidFill>
                  <a:schemeClr val="dk1"/>
                </a:solidFill>
              </a:rPr>
            </a:br>
            <a:r>
              <a:rPr lang="en-US" sz="1600">
                <a:solidFill>
                  <a:schemeClr val="dk1"/>
                </a:solidFill>
              </a:rPr>
              <a:t> </a:t>
            </a:r>
            <a:r>
              <a:rPr i="1" lang="en-US" sz="1600">
                <a:solidFill>
                  <a:schemeClr val="dk1"/>
                </a:solidFill>
              </a:rPr>
              <a:t>AI-Driven Learning Analytics Applications and Tools in Computer-Supported Collaborative Learning: A Systematic Review</a:t>
            </a:r>
            <a:endParaRPr i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Problem Statement:</a:t>
            </a:r>
            <a:br>
              <a:rPr b="1" lang="en-US" sz="1600">
                <a:solidFill>
                  <a:schemeClr val="dk1"/>
                </a:solidFill>
              </a:rPr>
            </a:br>
            <a:r>
              <a:rPr lang="en-US" sz="1600">
                <a:solidFill>
                  <a:schemeClr val="dk1"/>
                </a:solidFill>
              </a:rPr>
              <a:t> AI-driven analytics are underused in academic collaboration platforms and rarely integrated with academic performance or project tracking.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Problem Approach:</a:t>
            </a:r>
            <a:br>
              <a:rPr b="1" lang="en-US" sz="1600">
                <a:solidFill>
                  <a:schemeClr val="dk1"/>
                </a:solidFill>
              </a:rPr>
            </a:br>
            <a:r>
              <a:rPr lang="en-US" sz="1600">
                <a:solidFill>
                  <a:schemeClr val="dk1"/>
                </a:solidFill>
              </a:rPr>
              <a:t> The paper analyzes AI techniques used to evaluate academic progress and engagement.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Advantages:</a:t>
            </a:r>
            <a:br>
              <a:rPr b="1" lang="en-US" sz="1600">
                <a:solidFill>
                  <a:schemeClr val="dk1"/>
                </a:solidFill>
              </a:rPr>
            </a:br>
            <a:r>
              <a:rPr lang="en-US" sz="1600">
                <a:solidFill>
                  <a:schemeClr val="dk1"/>
                </a:solidFill>
              </a:rPr>
              <a:t> Highlights the potential of AI in personalizing learning experiences and performance tracking.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Drawbacks:</a:t>
            </a:r>
            <a:br>
              <a:rPr b="1" lang="en-US" sz="1600">
                <a:solidFill>
                  <a:schemeClr val="dk1"/>
                </a:solidFill>
              </a:rPr>
            </a:br>
            <a:r>
              <a:rPr lang="en-US" sz="1600">
                <a:solidFill>
                  <a:schemeClr val="dk1"/>
                </a:solidFill>
              </a:rPr>
              <a:t> Limited institutional deployment and absence of unified dashboards for collaboration.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Future Scope:</a:t>
            </a:r>
            <a:br>
              <a:rPr b="1" lang="en-US" sz="1600">
                <a:solidFill>
                  <a:schemeClr val="dk1"/>
                </a:solidFill>
              </a:rPr>
            </a:br>
            <a:r>
              <a:rPr lang="en-US" sz="1600">
                <a:solidFill>
                  <a:schemeClr val="dk1"/>
                </a:solidFill>
              </a:rPr>
              <a:t> Integration of AI analytics into academic collaboration systems to deliver performance insights and automated career tools.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1"/>
          <p:cNvSpPr txBox="1"/>
          <p:nvPr>
            <p:ph idx="4294967295" type="title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lang="en-US" sz="3759"/>
              <a:t>Functional Requirements</a:t>
            </a:r>
            <a:endParaRPr sz="3759"/>
          </a:p>
        </p:txBody>
      </p:sp>
      <p:graphicFrame>
        <p:nvGraphicFramePr>
          <p:cNvPr id="203" name="Google Shape;203;p31"/>
          <p:cNvGraphicFramePr/>
          <p:nvPr/>
        </p:nvGraphicFramePr>
        <p:xfrm>
          <a:off x="457200" y="146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{DB471969-12F2-4622-AD3D-09DA3C08E59E}</a:tableStyleId>
              </a:tblPr>
              <a:tblGrid>
                <a:gridCol w="1112050"/>
                <a:gridCol w="7302125"/>
              </a:tblGrid>
              <a:tr h="521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ID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Functional Requirement Description</a:t>
                      </a:r>
                      <a:endParaRPr b="1" sz="1300"/>
                    </a:p>
                  </a:txBody>
                  <a:tcPr marT="91425" marB="91425" marR="91425" marL="91425"/>
                </a:tc>
              </a:tr>
              <a:tr h="363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F001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The system </a:t>
                      </a:r>
                      <a:r>
                        <a:rPr b="1" lang="en-US" sz="1300"/>
                        <a:t>shall allow users to register and log in</a:t>
                      </a:r>
                      <a:r>
                        <a:rPr lang="en-US" sz="1300"/>
                        <a:t> with role-based access (student/faculty).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486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F002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The system </a:t>
                      </a:r>
                      <a:r>
                        <a:rPr b="1" lang="en-US" sz="1300"/>
                        <a:t>shall enable users to create and edit academic profiles</a:t>
                      </a:r>
                      <a:r>
                        <a:rPr lang="en-US" sz="1300"/>
                        <a:t> containing skills, interests, and achievements.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486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F003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The system </a:t>
                      </a:r>
                      <a:r>
                        <a:rPr b="1" lang="en-US" sz="1300"/>
                        <a:t>shall allow students and faculty to upload and manage publications</a:t>
                      </a:r>
                      <a:r>
                        <a:rPr lang="en-US" sz="1300"/>
                        <a:t> with metadata and attachments.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486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F004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The system </a:t>
                      </a:r>
                      <a:r>
                        <a:rPr b="1" lang="en-US" sz="1300"/>
                        <a:t>shall provide appointment scheduling</a:t>
                      </a:r>
                      <a:r>
                        <a:rPr lang="en-US" sz="1300"/>
                        <a:t> between students and faculty with real-time status tracking.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63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F005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The system </a:t>
                      </a:r>
                      <a:r>
                        <a:rPr b="1" lang="en-US" sz="1300"/>
                        <a:t>shall allow project creation, team collaboration, and progress tracking</a:t>
                      </a:r>
                      <a:r>
                        <a:rPr lang="en-US" sz="1300"/>
                        <a:t> for academic projects.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63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F006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The system </a:t>
                      </a:r>
                      <a:r>
                        <a:rPr b="1" lang="en-US" sz="1300"/>
                        <a:t>shall display a leaderboard</a:t>
                      </a:r>
                      <a:r>
                        <a:rPr lang="en-US" sz="1300"/>
                        <a:t> ranking users based on AI-computed performance scores.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63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F007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The system </a:t>
                      </a:r>
                      <a:r>
                        <a:rPr b="1" lang="en-US" sz="1300"/>
                        <a:t>shall provide dashboards</a:t>
                      </a:r>
                      <a:r>
                        <a:rPr lang="en-US" sz="1300"/>
                        <a:t> tailored separately for students and faculty.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63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F008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The system </a:t>
                      </a:r>
                      <a:r>
                        <a:rPr b="1" lang="en-US" sz="1300"/>
                        <a:t>shall allow users to upload achievements, certifications, and course completions.</a:t>
                      </a:r>
                      <a:endParaRPr b="1" sz="13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2"/>
          <p:cNvSpPr txBox="1"/>
          <p:nvPr>
            <p:ph idx="4294967295" type="title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lang="en-US" sz="3759"/>
              <a:t>Non-Functional Requirements</a:t>
            </a:r>
            <a:endParaRPr sz="3759"/>
          </a:p>
        </p:txBody>
      </p:sp>
      <p:graphicFrame>
        <p:nvGraphicFramePr>
          <p:cNvPr id="209" name="Google Shape;209;p32"/>
          <p:cNvGraphicFramePr/>
          <p:nvPr/>
        </p:nvGraphicFramePr>
        <p:xfrm>
          <a:off x="457200" y="1032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{DB471969-12F2-4622-AD3D-09DA3C08E59E}</a:tableStyleId>
              </a:tblPr>
              <a:tblGrid>
                <a:gridCol w="1512275"/>
                <a:gridCol w="6717325"/>
              </a:tblGrid>
              <a:tr h="313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Requirement Type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Description</a:t>
                      </a:r>
                      <a:endParaRPr b="1" sz="1300"/>
                    </a:p>
                  </a:txBody>
                  <a:tcPr marT="91425" marB="91425" marR="91425" marL="91425"/>
                </a:tc>
              </a:tr>
              <a:tr h="5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Performance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System should respond within 2 seconds for standard operations (login, dashboard load).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29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Scalability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The platform should support up to 150 concurrent users per instance.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29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Reliability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The system must ensure 99% uptime and prevent data loss during updates.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5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Security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All user data must be encrypted and accessible only through authenticated sessions.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29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Usability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The interface should be intuitive, accessible, and follow consistent UI patterns.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29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Portability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The system should be deployable across Windows and Linux servers.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29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Maintainability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Modular code structure with clear documentation for easy future upgrades.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5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Data Integrity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Database transactions should ensure atomicity and prevent duplicate or corrupted entries.</a:t>
                      </a:r>
                      <a:endParaRPr sz="16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3"/>
          <p:cNvSpPr txBox="1"/>
          <p:nvPr>
            <p:ph idx="4294967295" type="title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lang="en-US" sz="3759"/>
              <a:t>OUTPUT AND RESULTS</a:t>
            </a:r>
            <a:endParaRPr sz="3759"/>
          </a:p>
        </p:txBody>
      </p:sp>
      <p:graphicFrame>
        <p:nvGraphicFramePr>
          <p:cNvPr id="215" name="Google Shape;215;p33"/>
          <p:cNvGraphicFramePr/>
          <p:nvPr/>
        </p:nvGraphicFramePr>
        <p:xfrm>
          <a:off x="2814638" y="115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{DB471969-12F2-4622-AD3D-09DA3C08E59E}</a:tableStyleId>
              </a:tblPr>
              <a:tblGrid>
                <a:gridCol w="1171575"/>
                <a:gridCol w="1171575"/>
                <a:gridCol w="1171575"/>
              </a:tblGrid>
              <a:tr h="142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Metric</a:t>
                      </a:r>
                      <a:endParaRPr b="1" sz="11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Expected Value</a:t>
                      </a:r>
                      <a:endParaRPr b="1" sz="11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Notes</a:t>
                      </a:r>
                      <a:endParaRPr b="1" sz="11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Dashboard Load (Median)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600–800 ms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95th percentile &lt; 1.2 s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Project Creation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700–900 ms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Standard operation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Publication Entry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800–1000 ms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With metadata validation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Leaderboard Query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500–700 ms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With filtering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File Upload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1.5–3 s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Depends on file size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Concurrent Users Supported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100–150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Per API instance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API Throughput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120–150 req/sec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Under normal usage</a:t>
                      </a:r>
                      <a:endParaRPr sz="13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4"/>
          <p:cNvSpPr txBox="1"/>
          <p:nvPr>
            <p:ph idx="4294967295" type="title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lang="en-US" sz="3759"/>
              <a:t>OUTPUT AND RESULTS</a:t>
            </a:r>
            <a:endParaRPr sz="3759"/>
          </a:p>
        </p:txBody>
      </p:sp>
      <p:pic>
        <p:nvPicPr>
          <p:cNvPr id="221" name="Google Shape;22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68413"/>
            <a:ext cx="8839200" cy="45024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5"/>
          <p:cNvSpPr txBox="1"/>
          <p:nvPr>
            <p:ph idx="4294967295"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227" name="Google Shape;227;p35"/>
          <p:cNvSpPr txBox="1"/>
          <p:nvPr/>
        </p:nvSpPr>
        <p:spPr>
          <a:xfrm>
            <a:off x="557125" y="1168075"/>
            <a:ext cx="8229600" cy="49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The project </a:t>
            </a:r>
            <a:r>
              <a:rPr b="1" lang="en-US" sz="2400">
                <a:solidFill>
                  <a:schemeClr val="dk1"/>
                </a:solidFill>
              </a:rPr>
              <a:t>Scholara</a:t>
            </a:r>
            <a:r>
              <a:rPr lang="en-US" sz="2400">
                <a:solidFill>
                  <a:schemeClr val="dk1"/>
                </a:solidFill>
              </a:rPr>
              <a:t> successfully implements a </a:t>
            </a:r>
            <a:r>
              <a:rPr b="1" lang="en-US" sz="2400">
                <a:solidFill>
                  <a:schemeClr val="dk1"/>
                </a:solidFill>
              </a:rPr>
              <a:t>role-based academic collaboration system</a:t>
            </a:r>
            <a:r>
              <a:rPr lang="en-US" sz="2400">
                <a:solidFill>
                  <a:schemeClr val="dk1"/>
                </a:solidFill>
              </a:rPr>
              <a:t> that simplifies and enhances communication between students and faculty.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It integrates </a:t>
            </a:r>
            <a:r>
              <a:rPr b="1" lang="en-US" sz="2400">
                <a:solidFill>
                  <a:schemeClr val="dk1"/>
                </a:solidFill>
              </a:rPr>
              <a:t>AI-driven analytics</a:t>
            </a:r>
            <a:r>
              <a:rPr lang="en-US" sz="2400">
                <a:solidFill>
                  <a:schemeClr val="dk1"/>
                </a:solidFill>
              </a:rPr>
              <a:t>, </a:t>
            </a:r>
            <a:r>
              <a:rPr b="1" lang="en-US" sz="2400">
                <a:solidFill>
                  <a:schemeClr val="dk1"/>
                </a:solidFill>
              </a:rPr>
              <a:t>publication visibility</a:t>
            </a:r>
            <a:r>
              <a:rPr lang="en-US" sz="2400">
                <a:solidFill>
                  <a:schemeClr val="dk1"/>
                </a:solidFill>
              </a:rPr>
              <a:t>, and </a:t>
            </a:r>
            <a:r>
              <a:rPr b="1" lang="en-US" sz="2400">
                <a:solidFill>
                  <a:schemeClr val="dk1"/>
                </a:solidFill>
              </a:rPr>
              <a:t>achievement dashboards</a:t>
            </a:r>
            <a:r>
              <a:rPr lang="en-US" sz="2400">
                <a:solidFill>
                  <a:schemeClr val="dk1"/>
                </a:solidFill>
              </a:rPr>
              <a:t>, establishing an ecosystem that promotes transparency, performance, and academic excellence.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The system lays the foundation for </a:t>
            </a:r>
            <a:r>
              <a:rPr b="1" lang="en-US" sz="2400">
                <a:solidFill>
                  <a:schemeClr val="dk1"/>
                </a:solidFill>
              </a:rPr>
              <a:t>future research in scalable, data-driven educational platforms</a:t>
            </a:r>
            <a:r>
              <a:rPr lang="en-US" sz="2400">
                <a:solidFill>
                  <a:schemeClr val="dk1"/>
                </a:solidFill>
              </a:rPr>
              <a:t> supporting institution-wide collaboration.</a:t>
            </a:r>
            <a:endParaRPr sz="27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6"/>
          <p:cNvSpPr txBox="1"/>
          <p:nvPr>
            <p:ph idx="4294967295"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233" name="Google Shape;233;p36"/>
          <p:cNvSpPr txBox="1"/>
          <p:nvPr/>
        </p:nvSpPr>
        <p:spPr>
          <a:xfrm>
            <a:off x="318450" y="1504950"/>
            <a:ext cx="8686800" cy="5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-US" sz="1200">
                <a:solidFill>
                  <a:schemeClr val="dk1"/>
                </a:solidFill>
              </a:rPr>
              <a:t>Meishar-Tal, H. &amp; Pieterse, E. (2017). </a:t>
            </a:r>
            <a:r>
              <a:rPr i="1" lang="en-US" sz="1200">
                <a:solidFill>
                  <a:schemeClr val="dk1"/>
                </a:solidFill>
              </a:rPr>
              <a:t>Why Do Academics Use Academic Social Networking Sites?</a:t>
            </a:r>
            <a:r>
              <a:rPr lang="en-US" sz="1200">
                <a:solidFill>
                  <a:schemeClr val="dk1"/>
                </a:solidFill>
              </a:rPr>
              <a:t> Int. Rev. Res. Open Distributed Learning.</a:t>
            </a:r>
            <a:br>
              <a:rPr lang="en-US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-US" sz="1200">
                <a:solidFill>
                  <a:schemeClr val="dk1"/>
                </a:solidFill>
              </a:rPr>
              <a:t>Ovadia, S. (2014). </a:t>
            </a:r>
            <a:r>
              <a:rPr i="1" lang="en-US" sz="1200">
                <a:solidFill>
                  <a:schemeClr val="dk1"/>
                </a:solidFill>
              </a:rPr>
              <a:t>ResearchGate and Academia.edu: Academic Social Networks.</a:t>
            </a:r>
            <a:r>
              <a:rPr lang="en-US" sz="1200">
                <a:solidFill>
                  <a:schemeClr val="dk1"/>
                </a:solidFill>
              </a:rPr>
              <a:t> Behavioral &amp; Social Sciences Librarian.</a:t>
            </a:r>
            <a:br>
              <a:rPr lang="en-US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-US" sz="1200">
                <a:solidFill>
                  <a:schemeClr val="dk1"/>
                </a:solidFill>
              </a:rPr>
              <a:t>Fagborun, J. (2024). </a:t>
            </a:r>
            <a:r>
              <a:rPr i="1" lang="en-US" sz="1200">
                <a:solidFill>
                  <a:schemeClr val="dk1"/>
                </a:solidFill>
              </a:rPr>
              <a:t>A Systematic Comparative Review of LMS Platforms.</a:t>
            </a:r>
            <a:r>
              <a:rPr lang="en-US" sz="1200">
                <a:solidFill>
                  <a:schemeClr val="dk1"/>
                </a:solidFill>
              </a:rPr>
              <a:t> International Journal of Advanced Computing Studies.</a:t>
            </a:r>
            <a:br>
              <a:rPr lang="en-US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-US" sz="1200">
                <a:solidFill>
                  <a:schemeClr val="dk1"/>
                </a:solidFill>
              </a:rPr>
              <a:t>Ouyang, F. &amp; Zhang, L. (2024). </a:t>
            </a:r>
            <a:r>
              <a:rPr i="1" lang="en-US" sz="1200">
                <a:solidFill>
                  <a:schemeClr val="dk1"/>
                </a:solidFill>
              </a:rPr>
              <a:t>AI-Driven Learning Analytics in Education.</a:t>
            </a:r>
            <a:r>
              <a:rPr lang="en-US" sz="1200">
                <a:solidFill>
                  <a:schemeClr val="dk1"/>
                </a:solidFill>
              </a:rPr>
              <a:t> Educational Research Review.</a:t>
            </a:r>
            <a:br>
              <a:rPr lang="en-US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-US" sz="1200">
                <a:solidFill>
                  <a:schemeClr val="dk1"/>
                </a:solidFill>
              </a:rPr>
              <a:t>Jivet, I. et al. (2024). </a:t>
            </a:r>
            <a:r>
              <a:rPr i="1" lang="en-US" sz="1200">
                <a:solidFill>
                  <a:schemeClr val="dk1"/>
                </a:solidFill>
              </a:rPr>
              <a:t>Gamification in Learning Environments and Its Impact on Engagement.</a:t>
            </a:r>
            <a:r>
              <a:rPr lang="en-US" sz="1200">
                <a:solidFill>
                  <a:schemeClr val="dk1"/>
                </a:solidFill>
              </a:rPr>
              <a:t> Computers and Applications in Learning.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-US" sz="1200">
                <a:solidFill>
                  <a:schemeClr val="dk1"/>
                </a:solidFill>
              </a:rPr>
              <a:t>F. Ouyang and L. Zhang, "AI-driven learning analytics applications and tools in computer-supported collaborative learning: A systematic review," Educ. Res. Rev., vol. 43, Art. no. 100616, Nov. 2024, doi: 10.1016/j.edurev.2024.100616.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-US" sz="1200">
                <a:solidFill>
                  <a:schemeClr val="dk1"/>
                </a:solidFill>
              </a:rPr>
              <a:t>B. Oyarzun and F. Martin, "A Systematic Review of Research on Online Learner Collaboration from 2012-21: Collaboration Technologies, Design, Facilitation, and Outcomes," Online Learn., vol. 27, no. 1, pp. 71-106, Mar. 2023, doi: 10.24059/olj.v27i1.3407.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-US" sz="1200">
                <a:solidFill>
                  <a:schemeClr val="dk1"/>
                </a:solidFill>
              </a:rPr>
              <a:t>I. Bouchrika, "20 Best Academic Scheduling Software for 2025," Research.com, Aug. 6, 2025.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-US" sz="1200">
                <a:solidFill>
                  <a:schemeClr val="dk1"/>
                </a:solidFill>
              </a:rPr>
              <a:t>I. Jivet, M. Scheffel, M. Specht, and H. Drachsler, "The use of leaderboards in education: A systematic review of the literature," Comput. Appl. Learn., Oct. 2024, doi: 10.1111/jcal.13077.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-US" sz="1200">
                <a:solidFill>
                  <a:schemeClr val="dk1"/>
                </a:solidFill>
              </a:rPr>
              <a:t>O. Almousa, "Users' classification and usage-pattern identification in academic social networks," in Proc. IEEE Jordan Conf. Appl. Elect. Eng. Comput. Technol. (AEECT), Amman, Jordan, 2011, pp. 1-6, doi: 10.1109/AEECT.2011.6132492.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